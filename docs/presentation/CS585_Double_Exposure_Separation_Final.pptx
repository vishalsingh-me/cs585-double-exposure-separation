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we present our CS585 project: Separation of Double Exposure. We built an end-to-end framework to recover two source images from a single blended double-exposure photograph. We will cover the problem, our synthetic data pipeline, model, results,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 exposure is when two scenes are superimposed into one image. Reversing this is ill-posed because infinitely many pairs can create the same mixture. Since real double-exposure photos don't come with ground-truth layers, we generate synthetic training data with known source images.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cannot train with real double-exposure photos because we have no ground-truth source layers. Instead we synthetically generate mixtures from Places365 images. The pipeline samples two images, applies configurable blending, and saves the mixture, both source targets, and rich metadata. This metadata lets us later evaluate model performance by alpha range, blending mode, and scene similarity.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grid shows examples from our synthetic dataset. Each row has two source images and the resulting blended mixture. The model's task is to take the mixture and predict the two source images. Note that the ordering is ambiguous — the model could output either source as pred_1 or pred_2, which is why we use permutation-invariant loss.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baseline is a Dual-Head U-Net. A shared encoder-decoder processes the mixture image. The final 1×1 conv produces 6 channels which are split into two 3-channel RGB predictions. Because the two sources are unordered, we use a permutation-invariant L1 loss: we compute the loss for both possible assignments and take the minimum. This lets the model freely assign either source to either output head.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a 100-epoch overfit sanity check on 16 samples with base_channels=32. The loss dropped from 0.467 to 0.174 and the best validation L1 reached 0.130. The epoch 100 visual shows the model learning to separate structure and color. We also ran a quick 5-epoch baseline on the full dataset with base_channels=16 which achieved 12.24 dB PSNR and 0.286 SSIM. These are preliminary results — the model learns meaningful structure but output quality remains preliminary. The framework is ready for stronger training.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forward, we will scale our training with more data and a larger model. We plan to add a reconstruction-consistency loss and evaluate against harder blending regimes. The key contribution is the controlled synthetic framework itself, which lets us precisely measure what makes separation difficult. Thank you for listening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Rounded Rectangle 1"/>
          <p:cNvSpPr/>
          <p:nvPr/>
        </p:nvSpPr>
        <p:spPr>
          <a:xfrm>
            <a:off x="2743200" y="914400"/>
            <a:ext cx="3657600" cy="54864"/>
          </a:xfrm>
          <a:prstGeom prst="roundRect">
            <a:avLst/>
          </a:prstGeom>
          <a:solidFill>
            <a:srgbClr val="5BA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188720"/>
            <a:ext cx="8229600" cy="914400"/>
          </a:xfrm>
          <a:prstGeom prst="rect">
            <a:avLst/>
          </a:prstGeom>
          <a:noFill/>
        </p:spPr>
        <p:txBody>
          <a:bodyPr wrap="square">
            <a:spAutoFit/>
          </a:bodyPr>
          <a:lstStyle/>
          <a:p>
            <a:pPr algn="ctr">
              <a:defRPr sz="3800" b="1" i="0">
                <a:solidFill>
                  <a:srgbClr val="F0F0F5"/>
                </a:solidFill>
              </a:defRPr>
            </a:pPr>
            <a:r>
              <a:t>Separation of Double Exposure</a:t>
            </a:r>
          </a:p>
        </p:txBody>
      </p:sp>
      <p:sp>
        <p:nvSpPr>
          <p:cNvPr id="4" name="TextBox 3"/>
          <p:cNvSpPr txBox="1"/>
          <p:nvPr/>
        </p:nvSpPr>
        <p:spPr>
          <a:xfrm>
            <a:off x="457200" y="2286000"/>
            <a:ext cx="8229600" cy="548640"/>
          </a:xfrm>
          <a:prstGeom prst="rect">
            <a:avLst/>
          </a:prstGeom>
          <a:noFill/>
        </p:spPr>
        <p:txBody>
          <a:bodyPr wrap="square">
            <a:spAutoFit/>
          </a:bodyPr>
          <a:lstStyle/>
          <a:p>
            <a:pPr algn="ctr">
              <a:defRPr sz="1800" b="0" i="0">
                <a:solidFill>
                  <a:srgbClr val="999DB3"/>
                </a:solidFill>
              </a:defRPr>
            </a:pPr>
            <a:r>
              <a:t>Recovering Two Source Images from a Single Blended Image</a:t>
            </a:r>
          </a:p>
        </p:txBody>
      </p:sp>
      <p:sp>
        <p:nvSpPr>
          <p:cNvPr id="5" name="Rounded Rectangle 4"/>
          <p:cNvSpPr/>
          <p:nvPr/>
        </p:nvSpPr>
        <p:spPr>
          <a:xfrm>
            <a:off x="2743200" y="3017520"/>
            <a:ext cx="3657600" cy="36576"/>
          </a:xfrm>
          <a:prstGeom prst="roundRect">
            <a:avLst/>
          </a:prstGeom>
          <a:solidFill>
            <a:srgbClr val="5BA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291840"/>
            <a:ext cx="8229600" cy="457200"/>
          </a:xfrm>
          <a:prstGeom prst="rect">
            <a:avLst/>
          </a:prstGeom>
          <a:noFill/>
        </p:spPr>
        <p:txBody>
          <a:bodyPr wrap="square">
            <a:spAutoFit/>
          </a:bodyPr>
          <a:lstStyle/>
          <a:p>
            <a:pPr algn="ctr">
              <a:defRPr sz="2200" b="1" i="0">
                <a:solidFill>
                  <a:srgbClr val="F0F0F5"/>
                </a:solidFill>
              </a:defRPr>
            </a:pPr>
            <a:r>
              <a:t>Vishal Singh  ·  Angelina Sun</a:t>
            </a:r>
          </a:p>
        </p:txBody>
      </p:sp>
      <p:sp>
        <p:nvSpPr>
          <p:cNvPr id="7" name="TextBox 6"/>
          <p:cNvSpPr txBox="1"/>
          <p:nvPr/>
        </p:nvSpPr>
        <p:spPr>
          <a:xfrm>
            <a:off x="457200" y="4114800"/>
            <a:ext cx="8229600" cy="457200"/>
          </a:xfrm>
          <a:prstGeom prst="rect">
            <a:avLst/>
          </a:prstGeom>
          <a:noFill/>
        </p:spPr>
        <p:txBody>
          <a:bodyPr wrap="square">
            <a:spAutoFit/>
          </a:bodyPr>
          <a:lstStyle/>
          <a:p>
            <a:pPr algn="ctr">
              <a:defRPr sz="1400" b="0" i="0">
                <a:solidFill>
                  <a:srgbClr val="5BA8F5"/>
                </a:solidFill>
              </a:defRPr>
            </a:pPr>
            <a:r>
              <a:t>CS585 Image and Video Computing  ·  Boston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228600"/>
            <a:ext cx="8229600" cy="548640"/>
          </a:xfrm>
          <a:prstGeom prst="rect">
            <a:avLst/>
          </a:prstGeom>
          <a:noFill/>
        </p:spPr>
        <p:txBody>
          <a:bodyPr wrap="square">
            <a:spAutoFit/>
          </a:bodyPr>
          <a:lstStyle/>
          <a:p>
            <a:pPr algn="l">
              <a:defRPr sz="3000" b="1" i="0">
                <a:solidFill>
                  <a:srgbClr val="5BA8F5"/>
                </a:solidFill>
              </a:defRPr>
            </a:pPr>
            <a:r>
              <a:t>Problem &amp; Goal</a:t>
            </a:r>
          </a:p>
        </p:txBody>
      </p:sp>
      <p:sp>
        <p:nvSpPr>
          <p:cNvPr id="3" name="TextBox 2"/>
          <p:cNvSpPr txBox="1"/>
          <p:nvPr/>
        </p:nvSpPr>
        <p:spPr>
          <a:xfrm>
            <a:off x="457200" y="914400"/>
            <a:ext cx="5029200" cy="1828800"/>
          </a:xfrm>
          <a:prstGeom prst="rect">
            <a:avLst/>
          </a:prstGeom>
          <a:noFill/>
        </p:spPr>
        <p:txBody>
          <a:bodyPr wrap="square">
            <a:spAutoFit/>
          </a:bodyPr>
          <a:lstStyle/>
          <a:p>
            <a:pPr algn="l">
              <a:defRPr sz="1500" b="0" i="0">
                <a:solidFill>
                  <a:srgbClr val="F0F0F5"/>
                </a:solidFill>
              </a:defRPr>
            </a:pPr>
          </a:p>
          <a:p>
            <a:pPr>
              <a:defRPr sz="1500" b="0">
                <a:solidFill>
                  <a:srgbClr val="F0F0F5"/>
                </a:solidFill>
              </a:defRPr>
            </a:pPr>
            <a:r>
              <a:t>Double-exposure images combine two scenes into one photograph.</a:t>
            </a:r>
          </a:p>
          <a:p>
            <a:pPr>
              <a:defRPr sz="1500" b="0">
                <a:solidFill>
                  <a:srgbClr val="F0F0F5"/>
                </a:solidFill>
              </a:defRPr>
            </a:pPr>
            <a:r>
              <a:t>Goal: recover both original source images from a single mixture.</a:t>
            </a:r>
          </a:p>
          <a:p>
            <a:pPr>
              <a:defRPr sz="1500" b="0">
                <a:solidFill>
                  <a:srgbClr val="F0F0F5"/>
                </a:solidFill>
              </a:defRPr>
            </a:pPr>
            <a:r>
              <a:t>This is an ill-posed inverse problem — many image pairs could produce the same blend.</a:t>
            </a:r>
          </a:p>
          <a:p>
            <a:pPr>
              <a:defRPr sz="1400" b="0">
                <a:solidFill>
                  <a:srgbClr val="999DB3"/>
                </a:solidFill>
              </a:defRPr>
            </a:pPr>
            <a:r>
              <a:t>Real double exposures lack ground-truth layers, so we use synthetic supervision.</a:t>
            </a:r>
          </a:p>
        </p:txBody>
      </p:sp>
      <p:sp>
        <p:nvSpPr>
          <p:cNvPr id="4" name="Rounded Rectangle 3"/>
          <p:cNvSpPr/>
          <p:nvPr/>
        </p:nvSpPr>
        <p:spPr>
          <a:xfrm>
            <a:off x="274320" y="3200400"/>
            <a:ext cx="1463040" cy="54864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Source 1</a:t>
            </a:r>
          </a:p>
        </p:txBody>
      </p:sp>
      <p:sp>
        <p:nvSpPr>
          <p:cNvPr id="5" name="TextBox 4"/>
          <p:cNvSpPr txBox="1"/>
          <p:nvPr/>
        </p:nvSpPr>
        <p:spPr>
          <a:xfrm>
            <a:off x="1828800" y="3291840"/>
            <a:ext cx="365760" cy="274320"/>
          </a:xfrm>
          <a:prstGeom prst="rect">
            <a:avLst/>
          </a:prstGeom>
          <a:noFill/>
        </p:spPr>
        <p:txBody>
          <a:bodyPr wrap="square">
            <a:spAutoFit/>
          </a:bodyPr>
          <a:lstStyle/>
          <a:p>
            <a:pPr algn="ctr">
              <a:defRPr sz="1600" b="1" i="0">
                <a:solidFill>
                  <a:srgbClr val="5BA8F5"/>
                </a:solidFill>
              </a:defRPr>
            </a:pPr>
            <a:r>
              <a:t>+</a:t>
            </a:r>
          </a:p>
        </p:txBody>
      </p:sp>
      <p:sp>
        <p:nvSpPr>
          <p:cNvPr id="6" name="Rounded Rectangle 5"/>
          <p:cNvSpPr/>
          <p:nvPr/>
        </p:nvSpPr>
        <p:spPr>
          <a:xfrm>
            <a:off x="2194560" y="3200400"/>
            <a:ext cx="1463040" cy="54864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Source 2</a:t>
            </a:r>
          </a:p>
        </p:txBody>
      </p:sp>
      <p:sp>
        <p:nvSpPr>
          <p:cNvPr id="7" name="TextBox 6"/>
          <p:cNvSpPr txBox="1"/>
          <p:nvPr/>
        </p:nvSpPr>
        <p:spPr>
          <a:xfrm>
            <a:off x="3749039" y="3291840"/>
            <a:ext cx="365760" cy="274320"/>
          </a:xfrm>
          <a:prstGeom prst="rect">
            <a:avLst/>
          </a:prstGeom>
          <a:noFill/>
        </p:spPr>
        <p:txBody>
          <a:bodyPr wrap="square">
            <a:spAutoFit/>
          </a:bodyPr>
          <a:lstStyle/>
          <a:p>
            <a:pPr algn="ctr">
              <a:defRPr sz="1600" b="1" i="0">
                <a:solidFill>
                  <a:srgbClr val="5BA8F5"/>
                </a:solidFill>
              </a:defRPr>
            </a:pPr>
            <a:r>
              <a:t>→</a:t>
            </a:r>
          </a:p>
        </p:txBody>
      </p:sp>
      <p:sp>
        <p:nvSpPr>
          <p:cNvPr id="8" name="Rounded Rectangle 7"/>
          <p:cNvSpPr/>
          <p:nvPr/>
        </p:nvSpPr>
        <p:spPr>
          <a:xfrm>
            <a:off x="4114800" y="3200400"/>
            <a:ext cx="1463040" cy="548640"/>
          </a:xfrm>
          <a:prstGeom prst="roundRect">
            <a:avLst/>
          </a:prstGeom>
          <a:solidFill>
            <a:srgbClr val="F0A53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Mixture</a:t>
            </a:r>
          </a:p>
        </p:txBody>
      </p:sp>
      <p:sp>
        <p:nvSpPr>
          <p:cNvPr id="9" name="TextBox 8"/>
          <p:cNvSpPr txBox="1"/>
          <p:nvPr/>
        </p:nvSpPr>
        <p:spPr>
          <a:xfrm>
            <a:off x="5669280" y="3291840"/>
            <a:ext cx="365760" cy="274320"/>
          </a:xfrm>
          <a:prstGeom prst="rect">
            <a:avLst/>
          </a:prstGeom>
          <a:noFill/>
        </p:spPr>
        <p:txBody>
          <a:bodyPr wrap="square">
            <a:spAutoFit/>
          </a:bodyPr>
          <a:lstStyle/>
          <a:p>
            <a:pPr algn="ctr">
              <a:defRPr sz="1600" b="1" i="0">
                <a:solidFill>
                  <a:srgbClr val="5BA8F5"/>
                </a:solidFill>
              </a:defRPr>
            </a:pPr>
            <a:r>
              <a:t>→</a:t>
            </a:r>
          </a:p>
        </p:txBody>
      </p:sp>
      <p:sp>
        <p:nvSpPr>
          <p:cNvPr id="10" name="Rounded Rectangle 9"/>
          <p:cNvSpPr/>
          <p:nvPr/>
        </p:nvSpPr>
        <p:spPr>
          <a:xfrm>
            <a:off x="6035040" y="3200400"/>
            <a:ext cx="1463040" cy="548640"/>
          </a:xfrm>
          <a:prstGeom prst="roundRect">
            <a:avLst/>
          </a:prstGeom>
          <a:solidFill>
            <a:srgbClr val="5BA8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Model</a:t>
            </a:r>
          </a:p>
        </p:txBody>
      </p:sp>
      <p:sp>
        <p:nvSpPr>
          <p:cNvPr id="11" name="TextBox 10"/>
          <p:cNvSpPr txBox="1"/>
          <p:nvPr/>
        </p:nvSpPr>
        <p:spPr>
          <a:xfrm>
            <a:off x="7589520" y="3291840"/>
            <a:ext cx="365760" cy="274320"/>
          </a:xfrm>
          <a:prstGeom prst="rect">
            <a:avLst/>
          </a:prstGeom>
          <a:noFill/>
        </p:spPr>
        <p:txBody>
          <a:bodyPr wrap="square">
            <a:spAutoFit/>
          </a:bodyPr>
          <a:lstStyle/>
          <a:p>
            <a:pPr algn="ctr">
              <a:defRPr sz="1600" b="1" i="0">
                <a:solidFill>
                  <a:srgbClr val="5BA8F5"/>
                </a:solidFill>
              </a:defRPr>
            </a:pPr>
            <a:r>
              <a:t>→</a:t>
            </a:r>
          </a:p>
        </p:txBody>
      </p:sp>
      <p:sp>
        <p:nvSpPr>
          <p:cNvPr id="12" name="Rounded Rectangle 11"/>
          <p:cNvSpPr/>
          <p:nvPr/>
        </p:nvSpPr>
        <p:spPr>
          <a:xfrm>
            <a:off x="6035040" y="4023360"/>
            <a:ext cx="1463040" cy="4572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Pred Src 1</a:t>
            </a:r>
          </a:p>
        </p:txBody>
      </p:sp>
      <p:sp>
        <p:nvSpPr>
          <p:cNvPr id="13" name="Rounded Rectangle 12"/>
          <p:cNvSpPr/>
          <p:nvPr/>
        </p:nvSpPr>
        <p:spPr>
          <a:xfrm>
            <a:off x="7680960" y="4023360"/>
            <a:ext cx="1097280" cy="4572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Pred Src 2</a:t>
            </a:r>
          </a:p>
        </p:txBody>
      </p:sp>
      <p:sp>
        <p:nvSpPr>
          <p:cNvPr id="14" name="Rounded Rectangle 13"/>
          <p:cNvSpPr/>
          <p:nvPr/>
        </p:nvSpPr>
        <p:spPr>
          <a:xfrm>
            <a:off x="5943600" y="822960"/>
            <a:ext cx="2926080" cy="2011680"/>
          </a:xfrm>
          <a:prstGeom prst="roundRect">
            <a:avLst/>
          </a:prstGeom>
          <a:solidFill>
            <a:srgbClr val="1E2030"/>
          </a:solidFill>
          <a:ln w="15240">
            <a:solidFill>
              <a:srgbClr val="5BA8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defRPr sz="1100" i="1">
                <a:solidFill>
                  <a:srgbClr val="999DB3"/>
                </a:solidFill>
              </a:defRPr>
            </a:pPr>
            <a:r>
              <a:t>[Insert: double-exposure example image]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228600"/>
            <a:ext cx="8229600" cy="548640"/>
          </a:xfrm>
          <a:prstGeom prst="rect">
            <a:avLst/>
          </a:prstGeom>
          <a:noFill/>
        </p:spPr>
        <p:txBody>
          <a:bodyPr wrap="square">
            <a:spAutoFit/>
          </a:bodyPr>
          <a:lstStyle/>
          <a:p>
            <a:pPr algn="l">
              <a:defRPr sz="3000" b="1" i="0">
                <a:solidFill>
                  <a:srgbClr val="5BA8F5"/>
                </a:solidFill>
              </a:defRPr>
            </a:pPr>
            <a:r>
              <a:t>Synthetic Data Pipeline</a:t>
            </a:r>
          </a:p>
        </p:txBody>
      </p:sp>
      <p:sp>
        <p:nvSpPr>
          <p:cNvPr id="3" name="Rounded Rectangle 2"/>
          <p:cNvSpPr/>
          <p:nvPr/>
        </p:nvSpPr>
        <p:spPr>
          <a:xfrm>
            <a:off x="365760" y="1097280"/>
            <a:ext cx="1828800" cy="82296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Places365</a:t>
            </a:r>
            <a:br/>
            <a:r>
              <a:t>Clean Images</a:t>
            </a:r>
          </a:p>
        </p:txBody>
      </p:sp>
      <p:sp>
        <p:nvSpPr>
          <p:cNvPr id="4" name="TextBox 3"/>
          <p:cNvSpPr txBox="1"/>
          <p:nvPr/>
        </p:nvSpPr>
        <p:spPr>
          <a:xfrm>
            <a:off x="2212848" y="1325880"/>
            <a:ext cx="365760" cy="274320"/>
          </a:xfrm>
          <a:prstGeom prst="rect">
            <a:avLst/>
          </a:prstGeom>
          <a:noFill/>
        </p:spPr>
        <p:txBody>
          <a:bodyPr wrap="square">
            <a:spAutoFit/>
          </a:bodyPr>
          <a:lstStyle/>
          <a:p>
            <a:pPr algn="ctr">
              <a:defRPr sz="1600" b="1" i="0">
                <a:solidFill>
                  <a:srgbClr val="5BA8F5"/>
                </a:solidFill>
              </a:defRPr>
            </a:pPr>
            <a:r>
              <a:t>→</a:t>
            </a:r>
          </a:p>
        </p:txBody>
      </p:sp>
      <p:sp>
        <p:nvSpPr>
          <p:cNvPr id="5" name="Rounded Rectangle 4"/>
          <p:cNvSpPr/>
          <p:nvPr/>
        </p:nvSpPr>
        <p:spPr>
          <a:xfrm>
            <a:off x="2606040" y="1097280"/>
            <a:ext cx="1828800" cy="822960"/>
          </a:xfrm>
          <a:prstGeom prst="roundRect">
            <a:avLst/>
          </a:prstGeom>
          <a:solidFill>
            <a:srgbClr val="5BA8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Sample</a:t>
            </a:r>
            <a:br/>
            <a:r>
              <a:t>Image Pairs</a:t>
            </a:r>
          </a:p>
        </p:txBody>
      </p:sp>
      <p:sp>
        <p:nvSpPr>
          <p:cNvPr id="6" name="TextBox 5"/>
          <p:cNvSpPr txBox="1"/>
          <p:nvPr/>
        </p:nvSpPr>
        <p:spPr>
          <a:xfrm>
            <a:off x="4453127" y="1325880"/>
            <a:ext cx="365760" cy="274320"/>
          </a:xfrm>
          <a:prstGeom prst="rect">
            <a:avLst/>
          </a:prstGeom>
          <a:noFill/>
        </p:spPr>
        <p:txBody>
          <a:bodyPr wrap="square">
            <a:spAutoFit/>
          </a:bodyPr>
          <a:lstStyle/>
          <a:p>
            <a:pPr algn="ctr">
              <a:defRPr sz="1600" b="1" i="0">
                <a:solidFill>
                  <a:srgbClr val="5BA8F5"/>
                </a:solidFill>
              </a:defRPr>
            </a:pPr>
            <a:r>
              <a:t>→</a:t>
            </a:r>
          </a:p>
        </p:txBody>
      </p:sp>
      <p:sp>
        <p:nvSpPr>
          <p:cNvPr id="7" name="Rounded Rectangle 6"/>
          <p:cNvSpPr/>
          <p:nvPr/>
        </p:nvSpPr>
        <p:spPr>
          <a:xfrm>
            <a:off x="4846320" y="1097280"/>
            <a:ext cx="1828800" cy="822960"/>
          </a:xfrm>
          <a:prstGeom prst="roundRect">
            <a:avLst/>
          </a:prstGeom>
          <a:solidFill>
            <a:srgbClr val="F0A53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Apply</a:t>
            </a:r>
            <a:br/>
            <a:r>
              <a:t>Blending</a:t>
            </a:r>
          </a:p>
        </p:txBody>
      </p:sp>
      <p:sp>
        <p:nvSpPr>
          <p:cNvPr id="8" name="TextBox 7"/>
          <p:cNvSpPr txBox="1"/>
          <p:nvPr/>
        </p:nvSpPr>
        <p:spPr>
          <a:xfrm>
            <a:off x="6693408" y="1325880"/>
            <a:ext cx="365760" cy="274320"/>
          </a:xfrm>
          <a:prstGeom prst="rect">
            <a:avLst/>
          </a:prstGeom>
          <a:noFill/>
        </p:spPr>
        <p:txBody>
          <a:bodyPr wrap="square">
            <a:spAutoFit/>
          </a:bodyPr>
          <a:lstStyle/>
          <a:p>
            <a:pPr algn="ctr">
              <a:defRPr sz="1600" b="1" i="0">
                <a:solidFill>
                  <a:srgbClr val="5BA8F5"/>
                </a:solidFill>
              </a:defRPr>
            </a:pPr>
            <a:r>
              <a:t>→</a:t>
            </a:r>
          </a:p>
        </p:txBody>
      </p:sp>
      <p:sp>
        <p:nvSpPr>
          <p:cNvPr id="9" name="Rounded Rectangle 8"/>
          <p:cNvSpPr/>
          <p:nvPr/>
        </p:nvSpPr>
        <p:spPr>
          <a:xfrm>
            <a:off x="7086600" y="1097280"/>
            <a:ext cx="1828800" cy="822960"/>
          </a:xfrm>
          <a:prstGeom prst="roundRect">
            <a:avLst/>
          </a:prstGeom>
          <a:solidFill>
            <a:srgbClr val="5BA8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Save Mixture</a:t>
            </a:r>
            <a:br/>
            <a:r>
              <a:t>+ Targets</a:t>
            </a:r>
            <a:br/>
            <a:r>
              <a:t>+ Metadata</a:t>
            </a:r>
          </a:p>
        </p:txBody>
      </p:sp>
      <p:sp>
        <p:nvSpPr>
          <p:cNvPr id="10" name="Rounded Rectangle 9"/>
          <p:cNvSpPr/>
          <p:nvPr/>
        </p:nvSpPr>
        <p:spPr>
          <a:xfrm>
            <a:off x="365760" y="2286000"/>
            <a:ext cx="4114800" cy="246888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77440"/>
            <a:ext cx="3840480" cy="2286000"/>
          </a:xfrm>
          <a:prstGeom prst="rect">
            <a:avLst/>
          </a:prstGeom>
          <a:noFill/>
        </p:spPr>
        <p:txBody>
          <a:bodyPr wrap="square">
            <a:spAutoFit/>
          </a:bodyPr>
          <a:lstStyle/>
          <a:p>
            <a:pPr algn="l">
              <a:defRPr sz="1600" b="1" i="0">
                <a:solidFill>
                  <a:srgbClr val="F0A530"/>
                </a:solidFill>
              </a:defRPr>
            </a:pPr>
            <a:r>
              <a:t>Supported Blending Modes</a:t>
            </a:r>
          </a:p>
          <a:p>
            <a:pPr>
              <a:defRPr sz="1200" b="0">
                <a:solidFill>
                  <a:srgbClr val="F0F0F5"/>
                </a:solidFill>
              </a:defRPr>
            </a:pPr>
            <a:r>
              <a:t>•  α · source₁ + (1−α) · source₂   (linear alpha)</a:t>
            </a:r>
          </a:p>
          <a:p>
            <a:pPr>
              <a:defRPr sz="1200" b="0">
                <a:solidFill>
                  <a:srgbClr val="F0F0F5"/>
                </a:solidFill>
              </a:defRPr>
            </a:pPr>
            <a:r>
              <a:t>•  Gradient mask blending</a:t>
            </a:r>
          </a:p>
          <a:p>
            <a:pPr>
              <a:defRPr sz="1200" b="0">
                <a:solidFill>
                  <a:srgbClr val="F0F0F5"/>
                </a:solidFill>
              </a:defRPr>
            </a:pPr>
            <a:r>
              <a:t>•  Gaussian blur on one source</a:t>
            </a:r>
          </a:p>
          <a:p>
            <a:pPr>
              <a:defRPr sz="1200" b="0">
                <a:solidFill>
                  <a:srgbClr val="F0F0F5"/>
                </a:solidFill>
              </a:defRPr>
            </a:pPr>
            <a:r>
              <a:t>•  Gamma correction on mixture</a:t>
            </a:r>
          </a:p>
          <a:p>
            <a:pPr>
              <a:defRPr sz="1200" b="0">
                <a:solidFill>
                  <a:srgbClr val="F0F0F5"/>
                </a:solidFill>
              </a:defRPr>
            </a:pPr>
            <a:r>
              <a:t>•  Spatial translation / shift</a:t>
            </a:r>
          </a:p>
          <a:p>
            <a:pPr>
              <a:defRPr sz="1200" b="0">
                <a:solidFill>
                  <a:srgbClr val="F0F0F5"/>
                </a:solidFill>
              </a:defRPr>
            </a:pPr>
            <a:r>
              <a:t>•  Additive Gaussian noise</a:t>
            </a:r>
          </a:p>
        </p:txBody>
      </p:sp>
      <p:sp>
        <p:nvSpPr>
          <p:cNvPr id="12" name="Rounded Rectangle 11"/>
          <p:cNvSpPr/>
          <p:nvPr/>
        </p:nvSpPr>
        <p:spPr>
          <a:xfrm>
            <a:off x="4754880" y="2286000"/>
            <a:ext cx="4114800" cy="246888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2377440"/>
            <a:ext cx="3840480" cy="2286000"/>
          </a:xfrm>
          <a:prstGeom prst="rect">
            <a:avLst/>
          </a:prstGeom>
          <a:noFill/>
        </p:spPr>
        <p:txBody>
          <a:bodyPr wrap="square">
            <a:spAutoFit/>
          </a:bodyPr>
          <a:lstStyle/>
          <a:p>
            <a:pPr algn="l">
              <a:defRPr sz="1600" b="1" i="0">
                <a:solidFill>
                  <a:srgbClr val="34D399"/>
                </a:solidFill>
              </a:defRPr>
            </a:pPr>
            <a:r>
              <a:t>Key Design Decisions</a:t>
            </a:r>
          </a:p>
          <a:p>
            <a:pPr>
              <a:defRPr sz="1200" b="0">
                <a:solidFill>
                  <a:srgbClr val="F0F0F5"/>
                </a:solidFill>
              </a:defRPr>
            </a:pPr>
            <a:r>
              <a:t>Supervised data is entirely synthetic — real double exposures lack ground-truth.</a:t>
            </a:r>
          </a:p>
          <a:p>
            <a:pPr>
              <a:defRPr sz="1200" b="0">
                <a:solidFill>
                  <a:srgbClr val="F0F0F5"/>
                </a:solidFill>
              </a:defRPr>
            </a:pPr>
            <a:r>
              <a:t>Rich metadata (α, mode, blur, γ) enables interpretable, fine-grained evaluation.</a:t>
            </a:r>
          </a:p>
          <a:p>
            <a:pPr>
              <a:defRPr sz="1200" b="0">
                <a:solidFill>
                  <a:srgbClr val="F0F0F5"/>
                </a:solidFill>
              </a:defRPr>
            </a:pPr>
            <a:r>
              <a:t>Train / val splits ensure no image leakage.</a:t>
            </a:r>
          </a:p>
          <a:p>
            <a:pPr>
              <a:defRPr sz="1200" b="0">
                <a:solidFill>
                  <a:srgbClr val="F0F0F5"/>
                </a:solidFill>
              </a:defRPr>
            </a:pPr>
            <a:r>
              <a:t>Each sample saves: mixture.png, source_1.png, source_2.png, manifest row.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228600"/>
            <a:ext cx="8229600" cy="548640"/>
          </a:xfrm>
          <a:prstGeom prst="rect">
            <a:avLst/>
          </a:prstGeom>
          <a:noFill/>
        </p:spPr>
        <p:txBody>
          <a:bodyPr wrap="square">
            <a:spAutoFit/>
          </a:bodyPr>
          <a:lstStyle/>
          <a:p>
            <a:pPr algn="l">
              <a:defRPr sz="3000" b="1" i="0">
                <a:solidFill>
                  <a:srgbClr val="5BA8F5"/>
                </a:solidFill>
              </a:defRPr>
            </a:pPr>
            <a:r>
              <a:t>Dataset Examples</a:t>
            </a:r>
          </a:p>
        </p:txBody>
      </p:sp>
      <p:sp>
        <p:nvSpPr>
          <p:cNvPr id="3" name="TextBox 2"/>
          <p:cNvSpPr txBox="1"/>
          <p:nvPr/>
        </p:nvSpPr>
        <p:spPr>
          <a:xfrm>
            <a:off x="457200" y="685800"/>
            <a:ext cx="8229600" cy="365760"/>
          </a:xfrm>
          <a:prstGeom prst="rect">
            <a:avLst/>
          </a:prstGeom>
          <a:noFill/>
        </p:spPr>
        <p:txBody>
          <a:bodyPr wrap="square">
            <a:spAutoFit/>
          </a:bodyPr>
          <a:lstStyle/>
          <a:p>
            <a:pPr algn="l">
              <a:defRPr sz="1400" b="0" i="0">
                <a:solidFill>
                  <a:srgbClr val="999DB3"/>
                </a:solidFill>
              </a:defRPr>
            </a:pPr>
            <a:r>
              <a:t>Each training sample: Source 1 | Source 2 | Mixture</a:t>
            </a:r>
          </a:p>
        </p:txBody>
      </p:sp>
      <p:pic>
        <p:nvPicPr>
          <p:cNvPr id="4" name="Picture 3" descr="dataset_sample_check.png"/>
          <p:cNvPicPr>
            <a:picLocks noChangeAspect="1"/>
          </p:cNvPicPr>
          <p:nvPr/>
        </p:nvPicPr>
        <p:blipFill>
          <a:blip r:embed="rId2"/>
          <a:stretch>
            <a:fillRect/>
          </a:stretch>
        </p:blipFill>
        <p:spPr>
          <a:xfrm>
            <a:off x="365760" y="1188720"/>
            <a:ext cx="8412480" cy="3200400"/>
          </a:xfrm>
          <a:prstGeom prst="rect">
            <a:avLst/>
          </a:prstGeom>
        </p:spPr>
      </p:pic>
      <p:sp>
        <p:nvSpPr>
          <p:cNvPr id="5" name="Rounded Rectangle 4"/>
          <p:cNvSpPr/>
          <p:nvPr/>
        </p:nvSpPr>
        <p:spPr>
          <a:xfrm>
            <a:off x="365760" y="4663440"/>
            <a:ext cx="8412480" cy="128016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754880"/>
            <a:ext cx="8046720" cy="1097280"/>
          </a:xfrm>
          <a:prstGeom prst="rect">
            <a:avLst/>
          </a:prstGeom>
          <a:noFill/>
        </p:spPr>
        <p:txBody>
          <a:bodyPr wrap="square">
            <a:spAutoFit/>
          </a:bodyPr>
          <a:lstStyle/>
          <a:p>
            <a:pPr algn="l">
              <a:defRPr sz="1300" b="0" i="0">
                <a:solidFill>
                  <a:srgbClr val="F0F0F5"/>
                </a:solidFill>
              </a:defRPr>
            </a:pPr>
          </a:p>
          <a:p>
            <a:pPr>
              <a:defRPr sz="1300" b="0">
                <a:solidFill>
                  <a:srgbClr val="F0F0F5"/>
                </a:solidFill>
              </a:defRPr>
            </a:pPr>
            <a:r>
              <a:t>The model receives the mixture as input and must predict both sources.</a:t>
            </a:r>
          </a:p>
          <a:p>
            <a:pPr>
              <a:defRPr sz="1300" b="0">
                <a:solidFill>
                  <a:srgbClr val="F0F0F5"/>
                </a:solidFill>
              </a:defRPr>
            </a:pPr>
            <a:r>
              <a:t>Source ordering is ambiguous — permutation-invariant loss handles this.</a:t>
            </a:r>
          </a:p>
          <a:p>
            <a:pPr>
              <a:defRPr sz="1300" b="0">
                <a:solidFill>
                  <a:srgbClr val="999DB3"/>
                </a:solidFill>
              </a:defRPr>
            </a:pPr>
            <a:r>
              <a:t>Metadata records alpha, blending mode, blur, and gamma for each pair.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228600"/>
            <a:ext cx="8229600" cy="548640"/>
          </a:xfrm>
          <a:prstGeom prst="rect">
            <a:avLst/>
          </a:prstGeom>
          <a:noFill/>
        </p:spPr>
        <p:txBody>
          <a:bodyPr wrap="square">
            <a:spAutoFit/>
          </a:bodyPr>
          <a:lstStyle/>
          <a:p>
            <a:pPr algn="l">
              <a:defRPr sz="3000" b="1" i="0">
                <a:solidFill>
                  <a:srgbClr val="5BA8F5"/>
                </a:solidFill>
              </a:defRPr>
            </a:pPr>
            <a:r>
              <a:t>Baseline Model: Dual-Head U-Net</a:t>
            </a:r>
          </a:p>
        </p:txBody>
      </p:sp>
      <p:sp>
        <p:nvSpPr>
          <p:cNvPr id="3" name="Rounded Rectangle 2"/>
          <p:cNvSpPr/>
          <p:nvPr/>
        </p:nvSpPr>
        <p:spPr>
          <a:xfrm>
            <a:off x="274320" y="1188720"/>
            <a:ext cx="1463040" cy="640080"/>
          </a:xfrm>
          <a:prstGeom prst="roundRect">
            <a:avLst/>
          </a:prstGeom>
          <a:solidFill>
            <a:srgbClr val="F0A53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Mixture</a:t>
            </a:r>
            <a:br/>
            <a:r>
              <a:t>3 × 256 × 256</a:t>
            </a:r>
          </a:p>
        </p:txBody>
      </p:sp>
      <p:sp>
        <p:nvSpPr>
          <p:cNvPr id="4" name="TextBox 3"/>
          <p:cNvSpPr txBox="1"/>
          <p:nvPr/>
        </p:nvSpPr>
        <p:spPr>
          <a:xfrm>
            <a:off x="1828800" y="1280160"/>
            <a:ext cx="365760" cy="274320"/>
          </a:xfrm>
          <a:prstGeom prst="rect">
            <a:avLst/>
          </a:prstGeom>
          <a:noFill/>
        </p:spPr>
        <p:txBody>
          <a:bodyPr wrap="square">
            <a:spAutoFit/>
          </a:bodyPr>
          <a:lstStyle/>
          <a:p>
            <a:pPr algn="ctr">
              <a:defRPr sz="1600" b="1" i="0">
                <a:solidFill>
                  <a:srgbClr val="5BA8F5"/>
                </a:solidFill>
              </a:defRPr>
            </a:pPr>
            <a:r>
              <a:t>→</a:t>
            </a:r>
          </a:p>
        </p:txBody>
      </p:sp>
      <p:sp>
        <p:nvSpPr>
          <p:cNvPr id="5" name="Rounded Rectangle 4"/>
          <p:cNvSpPr/>
          <p:nvPr/>
        </p:nvSpPr>
        <p:spPr>
          <a:xfrm>
            <a:off x="2194560" y="1005840"/>
            <a:ext cx="1645920" cy="1005840"/>
          </a:xfrm>
          <a:prstGeom prst="roundRect">
            <a:avLst/>
          </a:prstGeom>
          <a:solidFill>
            <a:srgbClr val="5BA8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Shared</a:t>
            </a:r>
            <a:br/>
            <a:r>
              <a:t>Encoder</a:t>
            </a:r>
            <a:br/>
            <a:r>
              <a:t>4 ↓ stages</a:t>
            </a:r>
          </a:p>
        </p:txBody>
      </p:sp>
      <p:sp>
        <p:nvSpPr>
          <p:cNvPr id="6" name="TextBox 5"/>
          <p:cNvSpPr txBox="1"/>
          <p:nvPr/>
        </p:nvSpPr>
        <p:spPr>
          <a:xfrm>
            <a:off x="3931920" y="1280160"/>
            <a:ext cx="365760" cy="274320"/>
          </a:xfrm>
          <a:prstGeom prst="rect">
            <a:avLst/>
          </a:prstGeom>
          <a:noFill/>
        </p:spPr>
        <p:txBody>
          <a:bodyPr wrap="square">
            <a:spAutoFit/>
          </a:bodyPr>
          <a:lstStyle/>
          <a:p>
            <a:pPr algn="ctr">
              <a:defRPr sz="1600" b="1" i="0">
                <a:solidFill>
                  <a:srgbClr val="5BA8F5"/>
                </a:solidFill>
              </a:defRPr>
            </a:pPr>
            <a:r>
              <a:t>→</a:t>
            </a:r>
          </a:p>
        </p:txBody>
      </p:sp>
      <p:sp>
        <p:nvSpPr>
          <p:cNvPr id="7" name="Rounded Rectangle 6"/>
          <p:cNvSpPr/>
          <p:nvPr/>
        </p:nvSpPr>
        <p:spPr>
          <a:xfrm>
            <a:off x="4297680" y="1005840"/>
            <a:ext cx="1645920" cy="1005840"/>
          </a:xfrm>
          <a:prstGeom prst="roundRect">
            <a:avLst/>
          </a:prstGeom>
          <a:solidFill>
            <a:srgbClr val="5BA8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Shared</a:t>
            </a:r>
            <a:br/>
            <a:r>
              <a:t>Decoder</a:t>
            </a:r>
            <a:br/>
            <a:r>
              <a:t>4 ↑ stages</a:t>
            </a:r>
          </a:p>
        </p:txBody>
      </p:sp>
      <p:sp>
        <p:nvSpPr>
          <p:cNvPr id="8" name="TextBox 7"/>
          <p:cNvSpPr txBox="1"/>
          <p:nvPr/>
        </p:nvSpPr>
        <p:spPr>
          <a:xfrm>
            <a:off x="6035040" y="1097280"/>
            <a:ext cx="365760" cy="274320"/>
          </a:xfrm>
          <a:prstGeom prst="rect">
            <a:avLst/>
          </a:prstGeom>
          <a:noFill/>
        </p:spPr>
        <p:txBody>
          <a:bodyPr wrap="square">
            <a:spAutoFit/>
          </a:bodyPr>
          <a:lstStyle/>
          <a:p>
            <a:pPr algn="ctr">
              <a:defRPr sz="1600" b="1" i="0">
                <a:solidFill>
                  <a:srgbClr val="5BA8F5"/>
                </a:solidFill>
              </a:defRPr>
            </a:pPr>
            <a:r>
              <a:t>→</a:t>
            </a:r>
          </a:p>
        </p:txBody>
      </p:sp>
      <p:sp>
        <p:nvSpPr>
          <p:cNvPr id="9" name="Rounded Rectangle 8"/>
          <p:cNvSpPr/>
          <p:nvPr/>
        </p:nvSpPr>
        <p:spPr>
          <a:xfrm>
            <a:off x="6400800" y="914400"/>
            <a:ext cx="1280160" cy="457200"/>
          </a:xfrm>
          <a:prstGeom prst="roundRect">
            <a:avLst/>
          </a:prstGeom>
          <a:solidFill>
            <a:srgbClr val="5555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6-ch output</a:t>
            </a:r>
          </a:p>
        </p:txBody>
      </p:sp>
      <p:sp>
        <p:nvSpPr>
          <p:cNvPr id="10" name="TextBox 9"/>
          <p:cNvSpPr txBox="1"/>
          <p:nvPr/>
        </p:nvSpPr>
        <p:spPr>
          <a:xfrm>
            <a:off x="6400800" y="1417320"/>
            <a:ext cx="640080" cy="274320"/>
          </a:xfrm>
          <a:prstGeom prst="rect">
            <a:avLst/>
          </a:prstGeom>
          <a:noFill/>
        </p:spPr>
        <p:txBody>
          <a:bodyPr wrap="square">
            <a:spAutoFit/>
          </a:bodyPr>
          <a:lstStyle/>
          <a:p>
            <a:pPr algn="ctr">
              <a:defRPr sz="1000" b="0" i="0">
                <a:solidFill>
                  <a:srgbClr val="999DB3"/>
                </a:solidFill>
              </a:defRPr>
            </a:pPr>
            <a:r>
              <a:t>split</a:t>
            </a:r>
          </a:p>
        </p:txBody>
      </p:sp>
      <p:sp>
        <p:nvSpPr>
          <p:cNvPr id="11" name="Rounded Rectangle 10"/>
          <p:cNvSpPr/>
          <p:nvPr/>
        </p:nvSpPr>
        <p:spPr>
          <a:xfrm>
            <a:off x="6126480" y="1737360"/>
            <a:ext cx="914400" cy="4572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Pred Src 1</a:t>
            </a:r>
          </a:p>
        </p:txBody>
      </p:sp>
      <p:sp>
        <p:nvSpPr>
          <p:cNvPr id="12" name="Rounded Rectangle 11"/>
          <p:cNvSpPr/>
          <p:nvPr/>
        </p:nvSpPr>
        <p:spPr>
          <a:xfrm>
            <a:off x="7223760" y="1737360"/>
            <a:ext cx="914400" cy="4572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Pred Src 2</a:t>
            </a:r>
          </a:p>
        </p:txBody>
      </p:sp>
      <p:sp>
        <p:nvSpPr>
          <p:cNvPr id="13" name="TextBox 12"/>
          <p:cNvSpPr txBox="1"/>
          <p:nvPr/>
        </p:nvSpPr>
        <p:spPr>
          <a:xfrm>
            <a:off x="2468880" y="2194560"/>
            <a:ext cx="3200400" cy="274320"/>
          </a:xfrm>
          <a:prstGeom prst="rect">
            <a:avLst/>
          </a:prstGeom>
          <a:noFill/>
        </p:spPr>
        <p:txBody>
          <a:bodyPr wrap="square">
            <a:spAutoFit/>
          </a:bodyPr>
          <a:lstStyle/>
          <a:p>
            <a:pPr algn="ctr">
              <a:defRPr sz="1000" b="0" i="1">
                <a:solidFill>
                  <a:srgbClr val="999DB3"/>
                </a:solidFill>
              </a:defRPr>
            </a:pPr>
            <a:r>
              <a:t>← skip connections →</a:t>
            </a:r>
          </a:p>
        </p:txBody>
      </p:sp>
      <p:sp>
        <p:nvSpPr>
          <p:cNvPr id="14" name="Rounded Rectangle 13"/>
          <p:cNvSpPr/>
          <p:nvPr/>
        </p:nvSpPr>
        <p:spPr>
          <a:xfrm>
            <a:off x="274320" y="2743200"/>
            <a:ext cx="4114800" cy="292608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834640"/>
            <a:ext cx="3840480" cy="2743200"/>
          </a:xfrm>
          <a:prstGeom prst="rect">
            <a:avLst/>
          </a:prstGeom>
          <a:noFill/>
        </p:spPr>
        <p:txBody>
          <a:bodyPr wrap="square">
            <a:spAutoFit/>
          </a:bodyPr>
          <a:lstStyle/>
          <a:p>
            <a:pPr algn="l">
              <a:defRPr sz="1600" b="1" i="0">
                <a:solidFill>
                  <a:srgbClr val="5BA8F5"/>
                </a:solidFill>
              </a:defRPr>
            </a:pPr>
            <a:r>
              <a:t>Architecture Details</a:t>
            </a:r>
          </a:p>
          <a:p>
            <a:pPr>
              <a:defRPr sz="1300" b="0">
                <a:solidFill>
                  <a:srgbClr val="F0F0F5"/>
                </a:solidFill>
              </a:defRPr>
            </a:pPr>
            <a:r>
              <a:t>Input: 1 mixture image  (3 × 256 × 256)</a:t>
            </a:r>
          </a:p>
          <a:p>
            <a:pPr>
              <a:defRPr sz="1300" b="0">
                <a:solidFill>
                  <a:srgbClr val="F0F0F5"/>
                </a:solidFill>
              </a:defRPr>
            </a:pPr>
            <a:r>
              <a:t>Encoder: C → 2C → 4C → 8C → 16C  (max-pool)</a:t>
            </a:r>
          </a:p>
          <a:p>
            <a:pPr>
              <a:defRPr sz="1300" b="0">
                <a:solidFill>
                  <a:srgbClr val="F0F0F5"/>
                </a:solidFill>
              </a:defRPr>
            </a:pPr>
            <a:r>
              <a:t>Decoder: transposed conv + skip connections</a:t>
            </a:r>
          </a:p>
          <a:p>
            <a:pPr>
              <a:defRPr sz="1300" b="0">
                <a:solidFill>
                  <a:srgbClr val="F0F0F5"/>
                </a:solidFill>
              </a:defRPr>
            </a:pPr>
            <a:r>
              <a:t>Final 1×1 conv → 6 channels → split to 2×RGB</a:t>
            </a:r>
          </a:p>
          <a:p>
            <a:pPr>
              <a:defRPr sz="1300" b="0">
                <a:solidFill>
                  <a:srgbClr val="F0F0F5"/>
                </a:solidFill>
              </a:defRPr>
            </a:pPr>
            <a:r>
              <a:t>Sigmoid activation → outputs in [0, 1]</a:t>
            </a:r>
          </a:p>
          <a:p>
            <a:pPr>
              <a:defRPr sz="1300" b="0">
                <a:solidFill>
                  <a:srgbClr val="999DB3"/>
                </a:solidFill>
              </a:defRPr>
            </a:pPr>
            <a:r>
              <a:t>Configurable base channels (16, 32, 64)</a:t>
            </a:r>
          </a:p>
        </p:txBody>
      </p:sp>
      <p:sp>
        <p:nvSpPr>
          <p:cNvPr id="16" name="Rounded Rectangle 15"/>
          <p:cNvSpPr/>
          <p:nvPr/>
        </p:nvSpPr>
        <p:spPr>
          <a:xfrm>
            <a:off x="4663440" y="2743200"/>
            <a:ext cx="4206240" cy="292608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2834640"/>
            <a:ext cx="3931920" cy="2743200"/>
          </a:xfrm>
          <a:prstGeom prst="rect">
            <a:avLst/>
          </a:prstGeom>
          <a:noFill/>
        </p:spPr>
        <p:txBody>
          <a:bodyPr wrap="square">
            <a:spAutoFit/>
          </a:bodyPr>
          <a:lstStyle/>
          <a:p>
            <a:pPr algn="l">
              <a:defRPr sz="1600" b="1" i="0">
                <a:solidFill>
                  <a:srgbClr val="F0A530"/>
                </a:solidFill>
              </a:defRPr>
            </a:pPr>
            <a:r>
              <a:t>Permutation-Invariant L1 Loss</a:t>
            </a:r>
          </a:p>
          <a:p>
            <a:pPr>
              <a:defRPr sz="1300" b="0">
                <a:solidFill>
                  <a:srgbClr val="F0F0F5"/>
                </a:solidFill>
              </a:defRPr>
            </a:pPr>
            <a:r>
              <a:t>loss_a = L1(p₁, s₁) + L1(p₂, s₂)</a:t>
            </a:r>
          </a:p>
          <a:p>
            <a:pPr>
              <a:defRPr sz="1300" b="0">
                <a:solidFill>
                  <a:srgbClr val="F0F0F5"/>
                </a:solidFill>
              </a:defRPr>
            </a:pPr>
            <a:r>
              <a:t>loss_b = L1(p₁, s₂) + L1(p₂, s₁)</a:t>
            </a:r>
          </a:p>
          <a:p>
            <a:pPr>
              <a:defRPr sz="1400" b="1">
                <a:solidFill>
                  <a:srgbClr val="34D399"/>
                </a:solidFill>
              </a:defRPr>
            </a:pPr>
            <a:r>
              <a:t>final_loss = min(loss_a, loss_b)</a:t>
            </a:r>
          </a:p>
          <a:p>
            <a:pPr>
              <a:defRPr sz="600" b="0">
                <a:solidFill>
                  <a:srgbClr val="F0F0F5"/>
                </a:solidFill>
              </a:defRPr>
            </a:pPr>
          </a:p>
          <a:p>
            <a:pPr>
              <a:defRPr sz="1300" b="0">
                <a:solidFill>
                  <a:srgbClr val="F0F0F5"/>
                </a:solidFill>
              </a:defRPr>
            </a:pPr>
            <a:r>
              <a:t>Handles output-order ambiguity.</a:t>
            </a:r>
          </a:p>
          <a:p>
            <a:pPr>
              <a:defRPr sz="1300" b="0">
                <a:solidFill>
                  <a:srgbClr val="999DB3"/>
                </a:solidFill>
              </a:defRPr>
            </a:pPr>
            <a:r>
              <a:t>The model is free to assign either source to either output head.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228600"/>
            <a:ext cx="8229600" cy="548640"/>
          </a:xfrm>
          <a:prstGeom prst="rect">
            <a:avLst/>
          </a:prstGeom>
          <a:noFill/>
        </p:spPr>
        <p:txBody>
          <a:bodyPr wrap="square">
            <a:spAutoFit/>
          </a:bodyPr>
          <a:lstStyle/>
          <a:p>
            <a:pPr algn="l">
              <a:defRPr sz="3000" b="1" i="0">
                <a:solidFill>
                  <a:srgbClr val="5BA8F5"/>
                </a:solidFill>
              </a:defRPr>
            </a:pPr>
            <a:r>
              <a:t>Results &amp; Findings</a:t>
            </a:r>
          </a:p>
        </p:txBody>
      </p:sp>
      <p:sp>
        <p:nvSpPr>
          <p:cNvPr id="3" name="Rounded Rectangle 2"/>
          <p:cNvSpPr/>
          <p:nvPr/>
        </p:nvSpPr>
        <p:spPr>
          <a:xfrm>
            <a:off x="274320" y="914400"/>
            <a:ext cx="4389120" cy="91440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60120"/>
            <a:ext cx="4114800" cy="822960"/>
          </a:xfrm>
          <a:prstGeom prst="rect">
            <a:avLst/>
          </a:prstGeom>
          <a:noFill/>
        </p:spPr>
        <p:txBody>
          <a:bodyPr wrap="square">
            <a:spAutoFit/>
          </a:bodyPr>
          <a:lstStyle/>
          <a:p>
            <a:pPr algn="l">
              <a:defRPr sz="1400" b="1" i="0">
                <a:solidFill>
                  <a:srgbClr val="34D399"/>
                </a:solidFill>
              </a:defRPr>
            </a:pPr>
            <a:r>
              <a:t>Pipeline Validation</a:t>
            </a:r>
          </a:p>
          <a:p>
            <a:pPr>
              <a:defRPr sz="1200" b="0">
                <a:solidFill>
                  <a:srgbClr val="F0F0F5"/>
                </a:solidFill>
              </a:defRPr>
            </a:pPr>
            <a:r>
              <a:t>✓  Dataset diagnostics passed — tensors RGB, float32, [0, 1]</a:t>
            </a:r>
          </a:p>
          <a:p>
            <a:pPr>
              <a:defRPr sz="1200" b="0">
                <a:solidFill>
                  <a:srgbClr val="F0F0F5"/>
                </a:solidFill>
              </a:defRPr>
            </a:pPr>
            <a:r>
              <a:t>✓  End-to-end training + evaluation pipeline functional</a:t>
            </a:r>
          </a:p>
        </p:txBody>
      </p:sp>
      <p:sp>
        <p:nvSpPr>
          <p:cNvPr id="5" name="Rounded Rectangle 4"/>
          <p:cNvSpPr/>
          <p:nvPr/>
        </p:nvSpPr>
        <p:spPr>
          <a:xfrm>
            <a:off x="274320" y="2011680"/>
            <a:ext cx="4389120" cy="137160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57400"/>
            <a:ext cx="4114800" cy="1280160"/>
          </a:xfrm>
          <a:prstGeom prst="rect">
            <a:avLst/>
          </a:prstGeom>
          <a:noFill/>
        </p:spPr>
        <p:txBody>
          <a:bodyPr wrap="square">
            <a:spAutoFit/>
          </a:bodyPr>
          <a:lstStyle/>
          <a:p>
            <a:pPr algn="l">
              <a:defRPr sz="1300" b="1" i="0">
                <a:solidFill>
                  <a:srgbClr val="F0A530"/>
                </a:solidFill>
              </a:defRPr>
            </a:pPr>
            <a:r>
              <a:t>Overfit Sanity Check  (100 epochs · 16 samples · base_ch=32)</a:t>
            </a:r>
          </a:p>
          <a:p>
            <a:pPr>
              <a:defRPr sz="1300" b="0">
                <a:solidFill>
                  <a:srgbClr val="F0F0F5"/>
                </a:solidFill>
              </a:defRPr>
            </a:pPr>
            <a:r>
              <a:t>Train L1:   0.467  →  0.174</a:t>
            </a:r>
          </a:p>
          <a:p>
            <a:pPr>
              <a:defRPr sz="1300" b="0">
                <a:solidFill>
                  <a:srgbClr val="F0F0F5"/>
                </a:solidFill>
              </a:defRPr>
            </a:pPr>
            <a:r>
              <a:t>Best Val L1:   0.130</a:t>
            </a:r>
          </a:p>
          <a:p>
            <a:pPr>
              <a:defRPr sz="1200" b="0">
                <a:solidFill>
                  <a:srgbClr val="999DB3"/>
                </a:solidFill>
              </a:defRPr>
            </a:pPr>
            <a:r>
              <a:t>Model memorises small dataset → confirms pipeline correctness</a:t>
            </a:r>
          </a:p>
        </p:txBody>
      </p:sp>
      <p:sp>
        <p:nvSpPr>
          <p:cNvPr id="7" name="Rounded Rectangle 6"/>
          <p:cNvSpPr/>
          <p:nvPr/>
        </p:nvSpPr>
        <p:spPr>
          <a:xfrm>
            <a:off x="274320" y="3566160"/>
            <a:ext cx="4389120" cy="137160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611880"/>
            <a:ext cx="4114800" cy="1280160"/>
          </a:xfrm>
          <a:prstGeom prst="rect">
            <a:avLst/>
          </a:prstGeom>
          <a:noFill/>
        </p:spPr>
        <p:txBody>
          <a:bodyPr wrap="square">
            <a:spAutoFit/>
          </a:bodyPr>
          <a:lstStyle/>
          <a:p>
            <a:pPr algn="l">
              <a:defRPr sz="1300" b="1" i="0">
                <a:solidFill>
                  <a:srgbClr val="F0A530"/>
                </a:solidFill>
              </a:defRPr>
            </a:pPr>
            <a:r>
              <a:t>Quick Baseline  (5 epochs · base_ch=16 · full data)</a:t>
            </a:r>
          </a:p>
          <a:p>
            <a:pPr>
              <a:defRPr sz="1300" b="0">
                <a:solidFill>
                  <a:srgbClr val="F0F0F5"/>
                </a:solidFill>
              </a:defRPr>
            </a:pPr>
            <a:r>
              <a:t>Val L1:  0.421   |   PSNR:  12.24 dB   |   SSIM:  0.286</a:t>
            </a:r>
          </a:p>
          <a:p>
            <a:pPr>
              <a:defRPr sz="1200" b="0">
                <a:solidFill>
                  <a:srgbClr val="F0F0F5"/>
                </a:solidFill>
              </a:defRPr>
            </a:pPr>
            <a:r>
              <a:t>The baseline produces separated predictions showing early layer separation.</a:t>
            </a:r>
          </a:p>
          <a:p>
            <a:pPr>
              <a:defRPr sz="1200" b="0">
                <a:solidFill>
                  <a:srgbClr val="999DB3"/>
                </a:solidFill>
              </a:defRPr>
            </a:pPr>
            <a:r>
              <a:t>Results are preliminary — stronger training is planned.</a:t>
            </a:r>
          </a:p>
        </p:txBody>
      </p:sp>
      <p:pic>
        <p:nvPicPr>
          <p:cNvPr id="9" name="Picture 8" descr="overfit_loss_curve.png"/>
          <p:cNvPicPr>
            <a:picLocks noChangeAspect="1"/>
          </p:cNvPicPr>
          <p:nvPr/>
        </p:nvPicPr>
        <p:blipFill>
          <a:blip r:embed="rId2"/>
          <a:stretch>
            <a:fillRect/>
          </a:stretch>
        </p:blipFill>
        <p:spPr>
          <a:xfrm>
            <a:off x="4846320" y="822960"/>
            <a:ext cx="4023360" cy="2194560"/>
          </a:xfrm>
          <a:prstGeom prst="rect">
            <a:avLst/>
          </a:prstGeom>
        </p:spPr>
      </p:pic>
      <p:pic>
        <p:nvPicPr>
          <p:cNvPr id="10" name="Picture 9" descr="overfit_epoch_100_samples.png"/>
          <p:cNvPicPr>
            <a:picLocks noChangeAspect="1"/>
          </p:cNvPicPr>
          <p:nvPr/>
        </p:nvPicPr>
        <p:blipFill>
          <a:blip r:embed="rId3"/>
          <a:stretch>
            <a:fillRect/>
          </a:stretch>
        </p:blipFill>
        <p:spPr>
          <a:xfrm>
            <a:off x="4846320" y="3200400"/>
            <a:ext cx="4023360" cy="2103120"/>
          </a:xfrm>
          <a:prstGeom prst="rect">
            <a:avLst/>
          </a:prstGeom>
        </p:spPr>
      </p:pic>
      <p:sp>
        <p:nvSpPr>
          <p:cNvPr id="11" name="TextBox 10"/>
          <p:cNvSpPr txBox="1"/>
          <p:nvPr/>
        </p:nvSpPr>
        <p:spPr>
          <a:xfrm>
            <a:off x="4846320" y="5349240"/>
            <a:ext cx="4023360" cy="274320"/>
          </a:xfrm>
          <a:prstGeom prst="rect">
            <a:avLst/>
          </a:prstGeom>
          <a:noFill/>
        </p:spPr>
        <p:txBody>
          <a:bodyPr wrap="square">
            <a:spAutoFit/>
          </a:bodyPr>
          <a:lstStyle/>
          <a:p>
            <a:pPr algn="ctr">
              <a:defRPr sz="900" b="0" i="1">
                <a:solidFill>
                  <a:srgbClr val="999DB3"/>
                </a:solidFill>
              </a:defRPr>
            </a:pPr>
            <a:r>
              <a:t>Epoch 100 predictions  (S1 · S2 · Mix · P1 · P2 · Err1 · Err2)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228600"/>
            <a:ext cx="8229600" cy="548640"/>
          </a:xfrm>
          <a:prstGeom prst="rect">
            <a:avLst/>
          </a:prstGeom>
          <a:noFill/>
        </p:spPr>
        <p:txBody>
          <a:bodyPr wrap="square">
            <a:spAutoFit/>
          </a:bodyPr>
          <a:lstStyle/>
          <a:p>
            <a:pPr algn="l">
              <a:defRPr sz="3000" b="1" i="0">
                <a:solidFill>
                  <a:srgbClr val="5BA8F5"/>
                </a:solidFill>
              </a:defRPr>
            </a:pPr>
            <a:r>
              <a:t>Next Steps &amp; Conclusion</a:t>
            </a:r>
          </a:p>
        </p:txBody>
      </p:sp>
      <p:sp>
        <p:nvSpPr>
          <p:cNvPr id="3" name="Rounded Rectangle 2"/>
          <p:cNvSpPr/>
          <p:nvPr/>
        </p:nvSpPr>
        <p:spPr>
          <a:xfrm>
            <a:off x="274320" y="914400"/>
            <a:ext cx="4389120" cy="320040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05840"/>
            <a:ext cx="4114800" cy="3017520"/>
          </a:xfrm>
          <a:prstGeom prst="rect">
            <a:avLst/>
          </a:prstGeom>
          <a:noFill/>
        </p:spPr>
        <p:txBody>
          <a:bodyPr wrap="square">
            <a:spAutoFit/>
          </a:bodyPr>
          <a:lstStyle/>
          <a:p>
            <a:pPr algn="l">
              <a:defRPr sz="1700" b="1" i="0">
                <a:solidFill>
                  <a:srgbClr val="F0A530"/>
                </a:solidFill>
              </a:defRPr>
            </a:pPr>
            <a:r>
              <a:t>Planned Improvements</a:t>
            </a:r>
          </a:p>
          <a:p>
            <a:pPr>
              <a:defRPr sz="1400" b="0">
                <a:solidFill>
                  <a:srgbClr val="F0F0F5"/>
                </a:solidFill>
              </a:defRPr>
            </a:pPr>
            <a:r>
              <a:t>Scale to base_channels = 32 → 64</a:t>
            </a:r>
          </a:p>
          <a:p>
            <a:pPr>
              <a:defRPr sz="1400" b="0">
                <a:solidFill>
                  <a:srgbClr val="F0F0F5"/>
                </a:solidFill>
              </a:defRPr>
            </a:pPr>
            <a:r>
              <a:t>Train for 30+ epochs on larger dataset</a:t>
            </a:r>
          </a:p>
          <a:p>
            <a:pPr>
              <a:defRPr sz="1400" b="0">
                <a:solidFill>
                  <a:srgbClr val="F0F0F5"/>
                </a:solidFill>
              </a:defRPr>
            </a:pPr>
            <a:r>
              <a:t>Scale to 1,000–5,000 synthetic pairs</a:t>
            </a:r>
          </a:p>
          <a:p>
            <a:pPr>
              <a:defRPr sz="1400" b="0">
                <a:solidFill>
                  <a:srgbClr val="F0F0F5"/>
                </a:solidFill>
              </a:defRPr>
            </a:pPr>
            <a:r>
              <a:t>Add reconstruction-consistency loss</a:t>
            </a:r>
          </a:p>
          <a:p>
            <a:pPr>
              <a:defRPr sz="1200" b="0">
                <a:solidFill>
                  <a:srgbClr val="999DB3"/>
                </a:solidFill>
              </a:defRPr>
            </a:pPr>
            <a:r>
              <a:t>   α · p₁ + (1−α) · p₂  ≈  mixture</a:t>
            </a:r>
          </a:p>
          <a:p>
            <a:pPr>
              <a:defRPr sz="1400" b="0">
                <a:solidFill>
                  <a:srgbClr val="F0F0F5"/>
                </a:solidFill>
              </a:defRPr>
            </a:pPr>
            <a:r>
              <a:t>Evaluate by alpha range and synthesis mode</a:t>
            </a:r>
          </a:p>
          <a:p>
            <a:pPr>
              <a:defRPr sz="1400" b="0">
                <a:solidFill>
                  <a:srgbClr val="F0F0F5"/>
                </a:solidFill>
              </a:defRPr>
            </a:pPr>
            <a:r>
              <a:t>Compare harder blending: blur, mask, γ, shift</a:t>
            </a:r>
          </a:p>
        </p:txBody>
      </p:sp>
      <p:sp>
        <p:nvSpPr>
          <p:cNvPr id="5" name="Rounded Rectangle 4"/>
          <p:cNvSpPr/>
          <p:nvPr/>
        </p:nvSpPr>
        <p:spPr>
          <a:xfrm>
            <a:off x="4846320" y="914400"/>
            <a:ext cx="4023360" cy="1828800"/>
          </a:xfrm>
          <a:prstGeom prst="round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0" y="1005840"/>
            <a:ext cx="3749039" cy="1645920"/>
          </a:xfrm>
          <a:prstGeom prst="rect">
            <a:avLst/>
          </a:prstGeom>
          <a:noFill/>
        </p:spPr>
        <p:txBody>
          <a:bodyPr wrap="square">
            <a:spAutoFit/>
          </a:bodyPr>
          <a:lstStyle/>
          <a:p>
            <a:pPr algn="l">
              <a:defRPr sz="1700" b="1" i="0">
                <a:solidFill>
                  <a:srgbClr val="34D399"/>
                </a:solidFill>
              </a:defRPr>
            </a:pPr>
            <a:r>
              <a:t>Conclusion</a:t>
            </a:r>
          </a:p>
          <a:p>
            <a:pPr>
              <a:defRPr sz="1300" b="0">
                <a:solidFill>
                  <a:srgbClr val="F0F0F5"/>
                </a:solidFill>
              </a:defRPr>
            </a:pPr>
            <a:r>
              <a:t>We implemented an end-to-end separation framework for double-exposure images.</a:t>
            </a:r>
          </a:p>
          <a:p>
            <a:pPr>
              <a:defRPr sz="1300" b="0">
                <a:solidFill>
                  <a:srgbClr val="F0F0F5"/>
                </a:solidFill>
              </a:defRPr>
            </a:pPr>
            <a:r>
              <a:t>The baseline successfully produces separated output predictions.</a:t>
            </a:r>
          </a:p>
          <a:p>
            <a:pPr>
              <a:defRPr sz="1300" b="0">
                <a:solidFill>
                  <a:srgbClr val="F0F0F5"/>
                </a:solidFill>
              </a:defRPr>
            </a:pPr>
            <a:r>
              <a:t>The outputs show early layer separation behavior.</a:t>
            </a:r>
          </a:p>
        </p:txBody>
      </p:sp>
      <p:sp>
        <p:nvSpPr>
          <p:cNvPr id="7" name="Rounded Rectangle 6"/>
          <p:cNvSpPr/>
          <p:nvPr/>
        </p:nvSpPr>
        <p:spPr>
          <a:xfrm>
            <a:off x="4846320" y="2926080"/>
            <a:ext cx="4023360" cy="1188720"/>
          </a:xfrm>
          <a:prstGeom prst="roundRect">
            <a:avLst/>
          </a:prstGeom>
          <a:solidFill>
            <a:srgbClr val="1C2D3A"/>
          </a:solidFill>
          <a:ln w="15240">
            <a:solidFill>
              <a:srgbClr val="5BA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017520"/>
            <a:ext cx="3749039" cy="1005840"/>
          </a:xfrm>
          <a:prstGeom prst="rect">
            <a:avLst/>
          </a:prstGeom>
          <a:noFill/>
        </p:spPr>
        <p:txBody>
          <a:bodyPr wrap="square">
            <a:spAutoFit/>
          </a:bodyPr>
          <a:lstStyle/>
          <a:p>
            <a:pPr algn="l">
              <a:defRPr sz="1500" b="1" i="0">
                <a:solidFill>
                  <a:srgbClr val="5BA8F5"/>
                </a:solidFill>
              </a:defRPr>
            </a:pPr>
            <a:r>
              <a:t>Key Contribution</a:t>
            </a:r>
          </a:p>
          <a:p>
            <a:pPr>
              <a:defRPr sz="1300" b="0">
                <a:solidFill>
                  <a:srgbClr val="F0F0F5"/>
                </a:solidFill>
              </a:defRPr>
            </a:pPr>
            <a:r>
              <a:t>A controlled synthetic framework for studying double-exposure separation and analysing which visual factors make separation difficult.</a:t>
            </a:r>
          </a:p>
        </p:txBody>
      </p:sp>
      <p:sp>
        <p:nvSpPr>
          <p:cNvPr id="9" name="Rounded Rectangle 8"/>
          <p:cNvSpPr/>
          <p:nvPr/>
        </p:nvSpPr>
        <p:spPr>
          <a:xfrm>
            <a:off x="274320" y="4389120"/>
            <a:ext cx="8595360" cy="822960"/>
          </a:xfrm>
          <a:prstGeom prst="roundRect">
            <a:avLst/>
          </a:prstGeom>
          <a:solidFill>
            <a:srgbClr val="1A1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4480560"/>
            <a:ext cx="8229600" cy="640080"/>
          </a:xfrm>
          <a:prstGeom prst="rect">
            <a:avLst/>
          </a:prstGeom>
          <a:noFill/>
        </p:spPr>
        <p:txBody>
          <a:bodyPr wrap="square">
            <a:spAutoFit/>
          </a:bodyPr>
          <a:lstStyle/>
          <a:p>
            <a:pPr algn="ctr">
              <a:defRPr sz="2400" b="1" i="0">
                <a:solidFill>
                  <a:srgbClr val="5BA8F5"/>
                </a:solidFill>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